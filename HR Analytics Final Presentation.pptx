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7" r:id="rId1"/>
  </p:sldMasterIdLst>
  <p:sldIdLst>
    <p:sldId id="256" r:id="rId2"/>
    <p:sldId id="265" r:id="rId3"/>
    <p:sldId id="266" r:id="rId4"/>
    <p:sldId id="257" r:id="rId5"/>
    <p:sldId id="258" r:id="rId6"/>
    <p:sldId id="267" r:id="rId7"/>
    <p:sldId id="271" r:id="rId8"/>
    <p:sldId id="269" r:id="rId9"/>
    <p:sldId id="268" r:id="rId10"/>
    <p:sldId id="272" r:id="rId11"/>
    <p:sldId id="270" r:id="rId12"/>
    <p:sldId id="259" r:id="rId13"/>
    <p:sldId id="262" r:id="rId14"/>
    <p:sldId id="260" r:id="rId15"/>
    <p:sldId id="263" r:id="rId16"/>
    <p:sldId id="275" r:id="rId17"/>
    <p:sldId id="264" r:id="rId18"/>
    <p:sldId id="279" r:id="rId19"/>
    <p:sldId id="28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50991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4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35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36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7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3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82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0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5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84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8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2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en/human-resources-hr-management-1181577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vgsilh.com/image/42919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41013&amp;picture=agenda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people-men-women-man-woman-220284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segalan.es/diccionario-analitica-web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ublicdomainpictures.net/view-image.php?image=85761&amp;picture=&amp;jazyk=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Data Analysis using Excel, SQL, Power BI, and Tableau</a:t>
            </a:r>
          </a:p>
        </p:txBody>
      </p:sp>
      <p:pic>
        <p:nvPicPr>
          <p:cNvPr id="7" name="Picture 6" descr="A group of people standing in front of a sign&#10;&#10;AI-generated content may be incorrect.">
            <a:extLst>
              <a:ext uri="{FF2B5EF4-FFF2-40B4-BE49-F238E27FC236}">
                <a16:creationId xmlns:a16="http://schemas.microsoft.com/office/drawing/2014/main" id="{4EECDB47-3E3A-DE8A-7EEC-201C94206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493760" y="1934527"/>
            <a:ext cx="2997200" cy="28660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16C2-9992-03A5-0C05-D7DD0AED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Group-1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5E3A1-AA87-62AF-55D2-185B4BCB0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040" y="1838632"/>
            <a:ext cx="8595360" cy="4351337"/>
          </a:xfrm>
        </p:spPr>
        <p:txBody>
          <a:bodyPr/>
          <a:lstStyle/>
          <a:p>
            <a:r>
              <a:rPr lang="en-IN" dirty="0"/>
              <a:t>Anoop M</a:t>
            </a:r>
          </a:p>
          <a:p>
            <a:r>
              <a:rPr lang="en-US" dirty="0" err="1"/>
              <a:t>Debobrata</a:t>
            </a:r>
            <a:r>
              <a:rPr lang="en-US" dirty="0"/>
              <a:t> Mukherjee</a:t>
            </a:r>
          </a:p>
          <a:p>
            <a:r>
              <a:rPr lang="en-US" dirty="0"/>
              <a:t>Sura Venkata Rachana</a:t>
            </a:r>
            <a:endParaRPr lang="en-IN" dirty="0"/>
          </a:p>
          <a:p>
            <a:r>
              <a:rPr lang="en-US" dirty="0"/>
              <a:t>Surisetti D B </a:t>
            </a:r>
            <a:r>
              <a:rPr lang="en-US" dirty="0" err="1"/>
              <a:t>sravani</a:t>
            </a:r>
            <a:endParaRPr lang="en-IN" dirty="0"/>
          </a:p>
          <a:p>
            <a:r>
              <a:rPr lang="en-US" dirty="0"/>
              <a:t>Abhishek </a:t>
            </a:r>
            <a:r>
              <a:rPr lang="en-US" dirty="0" err="1"/>
              <a:t>Dudagi</a:t>
            </a:r>
            <a:endParaRPr lang="en-US" dirty="0"/>
          </a:p>
          <a:p>
            <a:r>
              <a:rPr lang="en-US" dirty="0"/>
              <a:t>Ganji. Syam Prasad Naidu</a:t>
            </a:r>
          </a:p>
          <a:p>
            <a:r>
              <a:rPr lang="en-US" dirty="0"/>
              <a:t>Sanjay Reddy Challa</a:t>
            </a:r>
          </a:p>
          <a:p>
            <a:endParaRPr lang="en-IN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AA6FCC2-9046-91F3-3682-9934C6435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b="49576"/>
          <a:stretch/>
        </p:blipFill>
        <p:spPr>
          <a:xfrm>
            <a:off x="4935582" y="1691322"/>
            <a:ext cx="5752737" cy="1529398"/>
          </a:xfrm>
          <a:prstGeom prst="rect">
            <a:avLst/>
          </a:prstGeom>
          <a:effectLst>
            <a:reflection blurRad="6350" stA="50000" endA="300" endPos="90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13019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3647-08D2-84F5-B223-370FA59F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C2691-3B7D-6344-BADE-D3AD2CBEE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  <a:p>
            <a:r>
              <a:rPr lang="en-IN" dirty="0"/>
              <a:t>KPIs and Insights</a:t>
            </a:r>
          </a:p>
          <a:p>
            <a:r>
              <a:rPr lang="en-IN" dirty="0"/>
              <a:t>Excel Dashboard</a:t>
            </a:r>
          </a:p>
          <a:p>
            <a:r>
              <a:rPr lang="en-IN" dirty="0"/>
              <a:t>Tableau Dashboard</a:t>
            </a:r>
          </a:p>
          <a:p>
            <a:r>
              <a:rPr lang="en-IN" dirty="0"/>
              <a:t>Power BI Dashboard</a:t>
            </a:r>
          </a:p>
          <a:p>
            <a:r>
              <a:rPr lang="en-IN" dirty="0"/>
              <a:t>MySQL Queries</a:t>
            </a:r>
          </a:p>
          <a:p>
            <a:r>
              <a:rPr lang="en-IN" dirty="0"/>
              <a:t>Challenges</a:t>
            </a:r>
          </a:p>
          <a:p>
            <a:r>
              <a:rPr lang="en-IN" dirty="0"/>
              <a:t>Conclusion</a:t>
            </a:r>
          </a:p>
        </p:txBody>
      </p:sp>
      <p:pic>
        <p:nvPicPr>
          <p:cNvPr id="6" name="Picture 5" descr="A hand holding a pen over a clipboard&#10;&#10;AI-generated content may be incorrect.">
            <a:extLst>
              <a:ext uri="{FF2B5EF4-FFF2-40B4-BE49-F238E27FC236}">
                <a16:creationId xmlns:a16="http://schemas.microsoft.com/office/drawing/2014/main" id="{92D2F794-B836-6923-D9BF-0D140BCAF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0000" b="10121"/>
          <a:stretch/>
        </p:blipFill>
        <p:spPr>
          <a:xfrm>
            <a:off x="6441440" y="1028541"/>
            <a:ext cx="2966720" cy="3124759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94588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HR Analytics project aims to analyze employee attrition and performance trends using Excel, SQL, Power BI, and Tableau to identify key factors impacting employee retention, satisfaction, and productivity.</a:t>
            </a:r>
          </a:p>
        </p:txBody>
      </p:sp>
      <p:pic>
        <p:nvPicPr>
          <p:cNvPr id="6" name="Picture 5" descr="A group of people in suits&#10;&#10;AI-generated content may be incorrect.">
            <a:extLst>
              <a:ext uri="{FF2B5EF4-FFF2-40B4-BE49-F238E27FC236}">
                <a16:creationId xmlns:a16="http://schemas.microsoft.com/office/drawing/2014/main" id="{0B6C2061-2084-B8F9-1B49-833A179B73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24839"/>
          <a:stretch/>
        </p:blipFill>
        <p:spPr>
          <a:xfrm>
            <a:off x="2511552" y="2917507"/>
            <a:ext cx="6096000" cy="39303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KPIs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dirty="0"/>
              <a:t>Average Attrition Rate for all Departments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Average Hourly Rate of Male Research Scientists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Attrition Rate vs Monthly Income Stats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Average Working Years for each Department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Job Role vs Work-Life Balance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Attrition Rate vs Years Since Last Promotion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1F71D414-1DA0-CAE0-FBD3-8B63C8F82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66000" y="2316480"/>
            <a:ext cx="3799840" cy="1899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1. Average Attrition Rate for all Departments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650240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Highest Attrition: Research &amp; Development has the highest average attrition rate at 51.21%.</a:t>
            </a:r>
          </a:p>
          <a:p>
            <a:r>
              <a:rPr lang="en-US" sz="1400" dirty="0"/>
              <a:t>Next Highest: Software follows closely with an average rate of 50.54%.</a:t>
            </a:r>
          </a:p>
          <a:p>
            <a:r>
              <a:rPr lang="en-US" sz="1400" dirty="0"/>
              <a:t>Lowest Attrition: Hardware has the lowest rate at 49.44%, making it the most stable department.</a:t>
            </a:r>
          </a:p>
          <a:p>
            <a:r>
              <a:rPr lang="en-US" sz="1400" dirty="0"/>
              <a:t>Overall Trend: All departments have an attrition rate clustering around the 50% mark, showing high and consistent turnover across the board.</a:t>
            </a: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A157D-75B9-60D1-F447-92094278B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62" y="1691322"/>
            <a:ext cx="3842766" cy="30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75676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2. Average Hourly Rate of Male Research Scientists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650240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The average hourly rate for male employees working as Research Scientists is 114.45 </a:t>
            </a:r>
            <a:r>
              <a:rPr lang="en-US" sz="1400" dirty="0" err="1"/>
              <a:t>Hrs</a:t>
            </a:r>
            <a:endParaRPr lang="en-US" sz="1400" dirty="0"/>
          </a:p>
          <a:p>
            <a:r>
              <a:rPr lang="en-US" sz="1400" dirty="0"/>
              <a:t>This indicates that Research Scientist roles are moderately compensated, reflecting a mid-level pay grade in the organization</a:t>
            </a:r>
          </a:p>
          <a:p>
            <a:r>
              <a:rPr lang="en-US" sz="1400" dirty="0"/>
              <a:t>A deeper comparison across genders and roles could reveal whether pay equity exists within the company</a:t>
            </a:r>
            <a:endParaRPr lang="en-IN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3F22EB-0F8A-C45A-00C7-85AF35EA0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952" y="2094271"/>
            <a:ext cx="3493371" cy="9930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8384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3. Attrition Rate vs Monthly Income Stats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578104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Highest Risk: The highest rate of attrition (51.26%) is in the 50,000+ income group.</a:t>
            </a:r>
          </a:p>
          <a:p>
            <a:r>
              <a:rPr lang="en-US" sz="1400" dirty="0"/>
              <a:t>Most Leavers: The biggest number of employees leaving are from the mid-level 20k - 30k income range.</a:t>
            </a:r>
          </a:p>
          <a:p>
            <a:r>
              <a:rPr lang="en-US" sz="1400" dirty="0"/>
              <a:t>Low-Income Impact: The 0 - 5k bracket has both a high rate (50.35%) and a high number of leavers.</a:t>
            </a:r>
          </a:p>
          <a:p>
            <a:r>
              <a:rPr lang="en-US" sz="1400" dirty="0"/>
              <a:t>Best Retention: The 35k - 40k income group has the lowest attrition rate (49.81%).</a:t>
            </a: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A5153E-D2D2-2DB7-CD86-0A52F250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915446"/>
            <a:ext cx="5692878" cy="24009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7611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4. Average Working Years for each Department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635000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Longest Tenure: Software has the longest average tenure at 20.65 years.</a:t>
            </a:r>
          </a:p>
          <a:p>
            <a:r>
              <a:rPr lang="en-US" sz="1400" dirty="0"/>
              <a:t>Shortest Tenure: R&amp;D has the shortest average tenure at 20.30 years.</a:t>
            </a:r>
          </a:p>
          <a:p>
            <a:r>
              <a:rPr lang="en-US" sz="1400" dirty="0"/>
              <a:t>Key Insight: All departments are extremely similar. There is very little difference in average tenure (all are between 20.3 and 20.7 years).</a:t>
            </a: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AB2B7-F629-FE56-0706-D308AC44D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084" y="1691322"/>
            <a:ext cx="5114925" cy="25812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0263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5. Job Role vs Work-Life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558800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Best Balance (2.51): Research Scientist and Developer Healthcare Representative and Human Resources roles report the highest Work-Life Balance score.</a:t>
            </a:r>
          </a:p>
          <a:p>
            <a:r>
              <a:rPr lang="en-US" sz="1400" dirty="0"/>
              <a:t>Worst Balance (2.47): Sales Executive role reports the lowest Work-Life Balance score, indicating the greatest WLB challenge.</a:t>
            </a:r>
          </a:p>
          <a:p>
            <a:r>
              <a:rPr lang="en-US" sz="1400" dirty="0"/>
              <a:t>WLB Risk: The Sales Executive role is a high-risk area for burnout or dissatisfaction due to poor WLB.</a:t>
            </a:r>
          </a:p>
          <a:p>
            <a:r>
              <a:rPr lang="en-US" sz="1400" dirty="0"/>
              <a:t>Below Average: Sales Executive (2.47) and Laboratory Technician (2.49) are also slightly below the average and need attention.</a:t>
            </a: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72269-6F18-F366-98E1-30430DF6B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493" y="1691322"/>
            <a:ext cx="4804287" cy="29593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99736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6. Attrition Rate vs Years Since Last Promotion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578104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Highest Risk Period: The highest attrition rate is seen when employees have waited since their last promotion (51.21%).</a:t>
            </a:r>
          </a:p>
          <a:p>
            <a:r>
              <a:rPr lang="en-US" sz="1400" dirty="0"/>
              <a:t>Initial Danger Zone: The next highest rates are in the (50.02%) and (50.19%) waiting periods.</a:t>
            </a:r>
          </a:p>
          <a:p>
            <a:r>
              <a:rPr lang="en-US" sz="1400" dirty="0"/>
              <a:t>Lowest Risk: The attrition rate drops sharply for employees waiting (49.44%), though this group has a very small population.</a:t>
            </a:r>
          </a:p>
          <a:p>
            <a:r>
              <a:rPr lang="en-US" sz="1400" dirty="0"/>
              <a:t>Bulk Attrition: The largest number of people leaving is in the 0-5 years category, despite this group having the lowest reported rate (49.44%). </a:t>
            </a:r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6BAFDC-1DFA-8B7E-C1F7-F1F75A1E6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62" y="1791017"/>
            <a:ext cx="5400675" cy="30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4718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9743EC-8610-759C-3F53-D069F5AE3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077" y="1833611"/>
            <a:ext cx="9851923" cy="4658629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Dashboard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F2694BF-4073-A7F2-E334-C1C6EEAEE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252" y="1691322"/>
            <a:ext cx="9851921" cy="48009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Power BI Dashboard - Attrition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90D87B-2A89-015B-72FD-251BCE0C0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252" y="1828800"/>
            <a:ext cx="936030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SQL Queries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516A9C9-4DD2-1091-2B33-FBBFC45D2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922" y="1828799"/>
            <a:ext cx="8593393" cy="47588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SQL Queries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C888DC-5003-C3F0-A74F-2710AD62D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2556" y="1691322"/>
            <a:ext cx="8593392" cy="485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08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Strategic Action Plan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196EFC-4DAC-5B26-A46B-02F61AB5B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b="1" dirty="0"/>
              <a:t>Key Findings &amp; 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BFF753-DCA2-0CA9-92E4-A8FF3AB8D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2160" y="2507550"/>
            <a:ext cx="4970272" cy="398469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Attrition Risk is Structural : Overall attrition rate is high (50%), indicating a systemic issue, not just isolated department problems. </a:t>
            </a:r>
          </a:p>
          <a:p>
            <a:pPr algn="just"/>
            <a:r>
              <a:rPr lang="en-US" dirty="0"/>
              <a:t>Promotion Lag Drives Loss : Waiting  6-30 years for a promotion is strongly correlated with high attrition rates.</a:t>
            </a:r>
          </a:p>
          <a:p>
            <a:pPr algn="just"/>
            <a:r>
              <a:rPr lang="en-US" dirty="0"/>
              <a:t>High-Value Flight : The  50,000+  income bracket has the highest attrition rate (51.21%),indicating poor retention of senior/highly-paid staff. </a:t>
            </a:r>
          </a:p>
          <a:p>
            <a:pPr algn="just"/>
            <a:r>
              <a:rPr lang="en-US" dirty="0"/>
              <a:t>Manager Burnout : The  Sales Executive role reports the lowest Work-Life Balance (2.47), making it a high-risk role for dissatisfaction.:  </a:t>
            </a:r>
          </a:p>
          <a:p>
            <a:pPr algn="just"/>
            <a:r>
              <a:rPr lang="en-US" dirty="0"/>
              <a:t>R&amp;D Stability Risk :  Research &amp; Development has the highest overall department attrition rate(51.21%) and one of the lowest average tenures (20.34years).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B9C164-B26C-8B6E-7472-147C6F7793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/>
          <a:lstStyle/>
          <a:p>
            <a:pPr algn="ctr"/>
            <a:r>
              <a:rPr lang="en-IN" b="1" dirty="0"/>
              <a:t>Actionable Recommendations &amp;Feedback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F98591E-8782-63A2-1CC6-31464AF09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5080000" cy="398469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Re-evaluate Promotion Cadence : Implement mandatory review points for promotion every 5 years to break the high-risk 6-30 year waiting window. </a:t>
            </a:r>
          </a:p>
          <a:p>
            <a:pPr algn="just"/>
            <a:r>
              <a:rPr lang="en-US" dirty="0"/>
              <a:t>Targeted Retention for 50k+ : Conduct stay interviews with high-income employees to understand non-monetary retention factors (e.g., impact, autonomy). </a:t>
            </a:r>
          </a:p>
          <a:p>
            <a:pPr algn="just"/>
            <a:r>
              <a:rPr lang="en-US" dirty="0"/>
              <a:t>Fix WLB : Deploy support staff or adjust span of control for Sales Executive to immediately improve their Work-Life Balance score (2.47). </a:t>
            </a:r>
          </a:p>
          <a:p>
            <a:pPr algn="just"/>
            <a:r>
              <a:rPr lang="en-US" dirty="0"/>
              <a:t>Prioritize R&amp;D &amp; Sales : Focus retention efforts on R&amp;D  (highest rate) and  Sales  (shortest tenure)to stabilize core creative and revenue functions.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9FE9-5402-2F92-4F9D-C3990A4E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369D1-E959-A9DD-232A-7D58B558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152128" cy="4351337"/>
          </a:xfrm>
        </p:spPr>
        <p:txBody>
          <a:bodyPr>
            <a:normAutofit/>
          </a:bodyPr>
          <a:lstStyle/>
          <a:p>
            <a:r>
              <a:rPr lang="en-US" b="1" dirty="0"/>
              <a:t>Challenge 1: </a:t>
            </a:r>
            <a:r>
              <a:rPr lang="en-US" dirty="0"/>
              <a:t>Combining HR1 and HR2 datasets with no common column </a:t>
            </a:r>
          </a:p>
          <a:p>
            <a:r>
              <a:rPr lang="en-US" b="1" dirty="0"/>
              <a:t>Solution:</a:t>
            </a:r>
            <a:r>
              <a:rPr lang="en-US" dirty="0"/>
              <a:t> Added a index column on both files and with the merge queries used the index columns from both HR1 and HR2 as common column.</a:t>
            </a:r>
          </a:p>
          <a:p>
            <a:r>
              <a:rPr lang="en-US" b="1" dirty="0"/>
              <a:t>Challenge 2:</a:t>
            </a:r>
            <a:r>
              <a:rPr lang="en-US" dirty="0"/>
              <a:t> Loading CSV files into MySQL (LOCAL INFILE error)</a:t>
            </a:r>
          </a:p>
          <a:p>
            <a:r>
              <a:rPr lang="en-US" b="1" dirty="0"/>
              <a:t>Solution: </a:t>
            </a:r>
            <a:r>
              <a:rPr lang="en-US" dirty="0"/>
              <a:t>Enabled </a:t>
            </a:r>
            <a:r>
              <a:rPr lang="en-US" i="1" dirty="0" err="1"/>
              <a:t>local_infile</a:t>
            </a:r>
            <a:r>
              <a:rPr lang="en-US" dirty="0"/>
              <a:t> in MySQL configuration and reloaded using proper permissions</a:t>
            </a:r>
          </a:p>
          <a:p>
            <a:r>
              <a:rPr lang="en-US" b="1" dirty="0"/>
              <a:t>Challenge 3:</a:t>
            </a:r>
            <a:r>
              <a:rPr lang="en-US" dirty="0"/>
              <a:t> struggling to Load MySQL tables into Power BI for visualization </a:t>
            </a:r>
          </a:p>
          <a:p>
            <a:r>
              <a:rPr lang="en-US" b="1" dirty="0"/>
              <a:t>Solution:</a:t>
            </a:r>
            <a:r>
              <a:rPr lang="en-US" dirty="0"/>
              <a:t> With the Help of </a:t>
            </a:r>
            <a:r>
              <a:rPr lang="en-US" dirty="0" err="1"/>
              <a:t>ChatGPTs</a:t>
            </a:r>
            <a:r>
              <a:rPr lang="en-US" dirty="0"/>
              <a:t> instruction, we Connected Power BI to MySQL via the MySQL Connector, imported cleaned HR tables, and built interactive dashboards directly from the database.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8650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F6D0-1C7F-8C3C-E88A-5C76D35E2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63733-BA83-E336-A490-9C999D6D6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Group 1</a:t>
            </a:r>
          </a:p>
        </p:txBody>
      </p:sp>
      <p:pic>
        <p:nvPicPr>
          <p:cNvPr id="5" name="Picture 4" descr="A hand touching a screen&#10;&#10;AI-generated content may be incorrect.">
            <a:extLst>
              <a:ext uri="{FF2B5EF4-FFF2-40B4-BE49-F238E27FC236}">
                <a16:creationId xmlns:a16="http://schemas.microsoft.com/office/drawing/2014/main" id="{3880BD71-9366-8A39-1482-00118139D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667" b="78000" l="22156" r="66467">
                        <a14:foregroundMark x1="58683" y1="72667" x2="58683" y2="72667"/>
                        <a14:foregroundMark x1="59281" y1="27333" x2="59281" y2="27333"/>
                        <a14:foregroundMark x1="63473" y1="24000" x2="63473" y2="24000"/>
                        <a14:foregroundMark x1="59281" y1="21333" x2="59281" y2="21333"/>
                        <a14:foregroundMark x1="65868" y1="28000" x2="65868" y2="28000"/>
                        <a14:foregroundMark x1="53892" y1="75333" x2="53892" y2="75333"/>
                        <a14:foregroundMark x1="22754" y1="54000" x2="22754" y2="54000"/>
                        <a14:foregroundMark x1="28743" y1="69333" x2="28743" y2="69333"/>
                        <a14:foregroundMark x1="24551" y1="66000" x2="24551" y2="66000"/>
                        <a14:foregroundMark x1="25150" y1="72667" x2="25150" y2="72667"/>
                        <a14:foregroundMark x1="34731" y1="78000" x2="34731" y2="78000"/>
                        <a14:foregroundMark x1="66467" y1="62000" x2="66467" y2="62000"/>
                      </a14:backgroundRemoval>
                    </a14:imgEffect>
                    <a14:imgEffect>
                      <a14:artisticChalkSketch/>
                    </a14:imgEffect>
                    <a14:imgEffect>
                      <a14:sharpenSoften amount="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535" t="18578" r="30838" b="21329"/>
          <a:stretch/>
        </p:blipFill>
        <p:spPr>
          <a:xfrm>
            <a:off x="8229599" y="1697736"/>
            <a:ext cx="1869441" cy="2164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1974393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341</TotalTime>
  <Words>978</Words>
  <Application>Microsoft Office PowerPoint</Application>
  <PresentationFormat>Widescreen</PresentationFormat>
  <Paragraphs>82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Schoolbook</vt:lpstr>
      <vt:lpstr>Wingdings 2</vt:lpstr>
      <vt:lpstr>View</vt:lpstr>
      <vt:lpstr>HR Analytics Dashboard</vt:lpstr>
      <vt:lpstr>Group-1</vt:lpstr>
      <vt:lpstr>INDEX</vt:lpstr>
      <vt:lpstr>Introduction</vt:lpstr>
      <vt:lpstr>KPIs and Insights</vt:lpstr>
      <vt:lpstr>1. Average Attrition Rate for all Departments</vt:lpstr>
      <vt:lpstr>2. Average Hourly Rate of Male Research Scientists</vt:lpstr>
      <vt:lpstr>3. Attrition Rate vs Monthly Income Stats</vt:lpstr>
      <vt:lpstr>4. Average Working Years for each Department</vt:lpstr>
      <vt:lpstr>5. Job Role vs Work-Life Balance</vt:lpstr>
      <vt:lpstr>6. Attrition Rate vs Years Since Last Promotion</vt:lpstr>
      <vt:lpstr>Excel Dashboard</vt:lpstr>
      <vt:lpstr>Tableau Dashboard</vt:lpstr>
      <vt:lpstr>Power BI Dashboard - Attrition</vt:lpstr>
      <vt:lpstr>SQL Queries</vt:lpstr>
      <vt:lpstr>SQL Queries</vt:lpstr>
      <vt:lpstr>Summary &amp; Strategic Action Plan</vt:lpstr>
      <vt:lpstr>Challenges and Solutions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Anoop M</cp:lastModifiedBy>
  <cp:revision>9</cp:revision>
  <dcterms:created xsi:type="dcterms:W3CDTF">2013-01-27T09:14:16Z</dcterms:created>
  <dcterms:modified xsi:type="dcterms:W3CDTF">2026-02-10T06:24:57Z</dcterms:modified>
  <cp:category/>
</cp:coreProperties>
</file>